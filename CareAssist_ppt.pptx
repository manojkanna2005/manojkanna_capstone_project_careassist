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739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-27432"/>
            <a:ext cx="12191695" cy="6858000"/>
          </a:xfrm>
          <a:prstGeom prst="rect">
            <a:avLst/>
          </a:prstGeom>
          <a:solidFill>
            <a:srgbClr val="FFF5F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-8957"/>
            <a:ext cx="3840480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94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CareAssist</a:t>
            </a:r>
            <a:endParaRPr 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1792" y="124358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</a:rPr>
              <a:t>Medical Billing and Claims</a:t>
            </a:r>
            <a:endParaRPr lang="en-US" sz="1700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Times New Roman" panose="02020603050405020304" pitchFamily="18" charset="0"/>
              </a:rPr>
              <a:t>Management System</a:t>
            </a:r>
            <a:endParaRPr lang="en-US" sz="170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617720" y="914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3520"/>
                </a:solidFill>
                <a:latin typeface="Times New Roman" panose="02020603050405020304" pitchFamily="18" charset="0"/>
              </a:rPr>
              <a:t>Project Presentation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0" y="14173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71C39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CareAssist</a:t>
            </a:r>
            <a:endParaRPr lang="en-US" sz="4200" dirty="0">
              <a:latin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0" y="2240280"/>
            <a:ext cx="6217920" cy="0"/>
          </a:xfrm>
          <a:prstGeom prst="line">
            <a:avLst/>
          </a:prstGeom>
          <a:noFill/>
          <a:ln w="25400">
            <a:solidFill>
              <a:srgbClr val="F24C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816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5C"/>
                </a:solidFill>
                <a:latin typeface="Times New Roman" panose="02020603050405020304" pitchFamily="18" charset="0"/>
              </a:rPr>
              <a:t>Student Name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903720" y="27614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1C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MANOJKANNA</a:t>
            </a:r>
            <a:r>
              <a:rPr lang="en-US" sz="1800" b="1" dirty="0">
                <a:solidFill>
                  <a:srgbClr val="071C39"/>
                </a:solidFill>
                <a:latin typeface="Times New Roman" panose="02020603050405020304" pitchFamily="18" charset="0"/>
              </a:rPr>
              <a:t> S</a:t>
            </a:r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17720" y="34015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5C"/>
                </a:solidFill>
                <a:latin typeface="Times New Roman" panose="02020603050405020304" pitchFamily="18" charset="0"/>
              </a:rPr>
              <a:t>Trainer Name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903720" y="33467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071C39"/>
                </a:solidFill>
                <a:latin typeface="Times New Roman" panose="02020603050405020304" pitchFamily="18" charset="0"/>
              </a:rPr>
              <a:t>Javeed</a:t>
            </a:r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17720" y="39867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05C"/>
                </a:solidFill>
                <a:latin typeface="Times New Roman" panose="02020603050405020304" pitchFamily="18" charset="0"/>
              </a:rPr>
              <a:t>Project Name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0" y="3948544"/>
            <a:ext cx="3108960" cy="804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71C39"/>
                </a:solidFill>
                <a:latin typeface="Times New Roman" panose="02020603050405020304" pitchFamily="18" charset="0"/>
              </a:rPr>
              <a:t>CareAssist - Medical Billing and Claims Management System</a:t>
            </a:r>
            <a:endParaRPr lang="en-US" sz="1800" dirty="0">
              <a:latin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36592" y="4873752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62672" y="4873752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244584" y="487375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C39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Project Description</a:t>
            </a:r>
            <a:endParaRPr 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05C"/>
                </a:solidFill>
                <a:latin typeface="Times New Roman" panose="02020603050405020304" pitchFamily="18" charset="0"/>
                <a:ea typeface="Aptos" pitchFamily="34" charset="-122"/>
                <a:cs typeface="Aptos" pitchFamily="34" charset="-120"/>
              </a:rPr>
              <a:t>A healthcare web application for billing, invoices, claims, and role-based operations.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6464"/>
                </a:solidFill>
                <a:latin typeface="Times New Roman" panose="02020603050405020304" pitchFamily="18" charset="0"/>
              </a:rPr>
              <a:t>02</a:t>
            </a:r>
            <a:endParaRPr lang="en-US" sz="850" dirty="0">
              <a:latin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50292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/>
            </a:solidFill>
            <a:prstDash val="solid"/>
          </a:ln>
          <a:effectLst>
            <a:outerShdw blurRad="25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93520"/>
                </a:solidFill>
                <a:latin typeface="Times New Roman" panose="02020603050405020304" pitchFamily="18" charset="0"/>
              </a:rPr>
              <a:t>What the system does</a:t>
            </a:r>
            <a:endParaRPr lang="en-US" sz="2200" dirty="0">
              <a:latin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438912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C39"/>
                </a:solidFill>
                <a:latin typeface="Times New Roman" panose="02020603050405020304" pitchFamily="18" charset="0"/>
              </a:rPr>
              <a:t>CareAssist connects patients, healthcare providers, insurance companies, and administrators in one platform. It supports medical invoice generation, payments, claim submission, claim approval, and user account management.</a:t>
            </a:r>
            <a:endParaRPr lang="en-US" sz="1500" dirty="0">
              <a:latin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0120" y="4572000"/>
            <a:ext cx="4389120" cy="658368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F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7731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93520"/>
                </a:solidFill>
                <a:latin typeface="Times New Roman" panose="02020603050405020304" pitchFamily="18" charset="0"/>
              </a:rPr>
              <a:t>Main goal: reduce manual billing and claim tracking work.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2377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blurRad="322580000" dist="645160000" algn="bl" rotWithShape="0">
              <a:srgbClr val="000000">
                <a:alpha val="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28232" y="16459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4FD7"/>
                </a:solidFill>
                <a:latin typeface="Times New Roman" panose="02020603050405020304" pitchFamily="18" charset="0"/>
              </a:rPr>
              <a:t>Patient</a:t>
            </a:r>
            <a:endParaRPr lang="en-US" sz="1700" dirty="0">
              <a:latin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28232" y="2075688"/>
            <a:ext cx="1938528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71C39"/>
                </a:solidFill>
                <a:latin typeface="Times New Roman" panose="02020603050405020304" pitchFamily="18" charset="0"/>
              </a:rPr>
              <a:t>View invoices, pay bills, submit claims, manage insurance and profile.</a:t>
            </a:r>
            <a:endParaRPr lang="en-US" sz="1240" dirty="0">
              <a:latin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915400" y="1417320"/>
            <a:ext cx="2377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71432" y="16459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4C4C"/>
                </a:solidFill>
                <a:latin typeface="Times New Roman" panose="02020603050405020304" pitchFamily="18" charset="0"/>
              </a:rPr>
              <a:t>Provider</a:t>
            </a:r>
            <a:endParaRPr lang="en-US" sz="1700" dirty="0">
              <a:latin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71432" y="2075688"/>
            <a:ext cx="1938528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71C39"/>
                </a:solidFill>
                <a:latin typeface="Times New Roman" panose="02020603050405020304" pitchFamily="18" charset="0"/>
              </a:rPr>
              <a:t>Generate invoices, notify patients, view provider invoices and requests.</a:t>
            </a:r>
            <a:endParaRPr lang="en-US" sz="1240" dirty="0">
              <a:latin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72200" y="3063240"/>
            <a:ext cx="2377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28232" y="32918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8A4A"/>
                </a:solidFill>
                <a:latin typeface="Times New Roman" panose="02020603050405020304" pitchFamily="18" charset="0"/>
              </a:rPr>
              <a:t>Insurance</a:t>
            </a:r>
            <a:endParaRPr lang="en-US" sz="1700" dirty="0">
              <a:latin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28232" y="3721608"/>
            <a:ext cx="1938528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71C39"/>
                </a:solidFill>
                <a:latin typeface="Times New Roman" panose="02020603050405020304" pitchFamily="18" charset="0"/>
              </a:rPr>
              <a:t>Review submitted claims and approve or reject insurance coverage.</a:t>
            </a:r>
            <a:endParaRPr lang="en-US" sz="1240" dirty="0">
              <a:latin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915400" y="3063240"/>
            <a:ext cx="23774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71432" y="32918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93520"/>
                </a:solidFill>
                <a:latin typeface="Times New Roman" panose="02020603050405020304" pitchFamily="18" charset="0"/>
              </a:rPr>
              <a:t>Admin</a:t>
            </a:r>
            <a:endParaRPr lang="en-US" sz="1700" dirty="0">
              <a:latin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171432" y="3721608"/>
            <a:ext cx="1938528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71C39"/>
                </a:solidFill>
                <a:latin typeface="Times New Roman" panose="02020603050405020304" pitchFamily="18" charset="0"/>
              </a:rPr>
              <a:t>Monitor dashboard, manage users, patients, providers, payments, and claims.</a:t>
            </a:r>
            <a:endParaRPr lang="en-US" sz="124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C39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Technology Used</a:t>
            </a:r>
            <a:endParaRPr 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05C"/>
                </a:solidFill>
                <a:latin typeface="Times New Roman" panose="02020603050405020304" pitchFamily="18" charset="0"/>
                <a:ea typeface="Aptos" pitchFamily="34" charset="-122"/>
                <a:cs typeface="Aptos" pitchFamily="34" charset="-120"/>
              </a:rPr>
              <a:t>Frontend, backend, database, security, and deployment tools used in CareAssist.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6464"/>
                </a:solidFill>
                <a:latin typeface="Times New Roman" panose="02020603050405020304" pitchFamily="18" charset="0"/>
              </a:rPr>
              <a:t>03</a:t>
            </a:r>
            <a:endParaRPr lang="en-US" sz="850" dirty="0">
              <a:latin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9264" y="16459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4FD7"/>
                </a:solidFill>
                <a:latin typeface="Times New Roman" panose="02020603050405020304" pitchFamily="18" charset="0"/>
              </a:rPr>
              <a:t>Frontend</a:t>
            </a:r>
            <a:endParaRPr lang="en-US" sz="1700" dirty="0">
              <a:latin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9264" y="2075688"/>
            <a:ext cx="280720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71C39"/>
                </a:solidFill>
                <a:latin typeface="Times New Roman" panose="02020603050405020304" pitchFamily="18" charset="0"/>
              </a:rPr>
              <a:t>React, JSX, Axios, CSS, Bootstrap-style layout</a:t>
            </a:r>
            <a:endParaRPr lang="en-US" sz="1240" dirty="0">
              <a:latin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416552" y="14173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72584" y="16459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4C4C"/>
                </a:solidFill>
                <a:latin typeface="Times New Roman" panose="02020603050405020304" pitchFamily="18" charset="0"/>
              </a:rPr>
              <a:t>Backend</a:t>
            </a:r>
            <a:endParaRPr lang="en-US" sz="1700" dirty="0">
              <a:latin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72584" y="2075688"/>
            <a:ext cx="280720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71C39"/>
                </a:solidFill>
                <a:latin typeface="Times New Roman" panose="02020603050405020304" pitchFamily="18" charset="0"/>
              </a:rPr>
              <a:t>Java 21, Spring Boot, REST API, Service layer</a:t>
            </a:r>
            <a:endParaRPr lang="en-US" sz="1240" dirty="0">
              <a:latin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119872" y="14173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75904" y="16459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8A4A"/>
                </a:solidFill>
                <a:latin typeface="Times New Roman" panose="02020603050405020304" pitchFamily="18" charset="0"/>
              </a:rPr>
              <a:t>Database</a:t>
            </a:r>
            <a:endParaRPr lang="en-US" sz="1700" dirty="0">
              <a:latin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75904" y="2075688"/>
            <a:ext cx="280720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71C39"/>
                </a:solidFill>
                <a:latin typeface="Times New Roman" panose="02020603050405020304" pitchFamily="18" charset="0"/>
              </a:rPr>
              <a:t>MySQL, Spring Data JPA, Hibernate ORM</a:t>
            </a:r>
            <a:endParaRPr lang="en-US" sz="1240" dirty="0">
              <a:latin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13232" y="34747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9264" y="37033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1C39"/>
                </a:solidFill>
                <a:latin typeface="Times New Roman" panose="02020603050405020304" pitchFamily="18" charset="0"/>
              </a:rPr>
              <a:t>Security</a:t>
            </a:r>
            <a:endParaRPr lang="en-US" sz="1700" dirty="0">
              <a:latin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69264" y="4133088"/>
            <a:ext cx="280720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71C39"/>
                </a:solidFill>
                <a:latin typeface="Times New Roman" panose="02020603050405020304" pitchFamily="18" charset="0"/>
              </a:rPr>
              <a:t>Spring Security, JWT authentication, GitHub OAuth2 login</a:t>
            </a:r>
            <a:endParaRPr lang="en-US" sz="1240" dirty="0">
              <a:latin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416552" y="34747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72584" y="37033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93520"/>
                </a:solidFill>
                <a:latin typeface="Times New Roman" panose="02020603050405020304" pitchFamily="18" charset="0"/>
              </a:rPr>
              <a:t>Documents</a:t>
            </a:r>
            <a:endParaRPr lang="en-US" sz="1700" dirty="0">
              <a:latin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672584" y="4133088"/>
            <a:ext cx="280720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71C39"/>
                </a:solidFill>
                <a:latin typeface="Times New Roman" panose="02020603050405020304" pitchFamily="18" charset="0"/>
              </a:rPr>
              <a:t>PDF invoice generation and email notification</a:t>
            </a:r>
            <a:endParaRPr lang="en-US" sz="1240" dirty="0">
              <a:latin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119872" y="34747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375904" y="370332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4C4C"/>
                </a:solidFill>
                <a:latin typeface="Times New Roman" panose="02020603050405020304" pitchFamily="18" charset="0"/>
              </a:rPr>
              <a:t>Deployment</a:t>
            </a:r>
            <a:endParaRPr lang="en-US" sz="1700" dirty="0">
              <a:latin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375904" y="4133088"/>
            <a:ext cx="2807208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71C39"/>
                </a:solidFill>
                <a:latin typeface="Times New Roman" panose="02020603050405020304" pitchFamily="18" charset="0"/>
              </a:rPr>
              <a:t>Docker, AWS EC2 backend, AWS S3 frontend hosting</a:t>
            </a:r>
            <a:endParaRPr lang="en-US" sz="1240" dirty="0">
              <a:latin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13232" y="5596128"/>
            <a:ext cx="106984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" y="571500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71C39"/>
                </a:solidFill>
                <a:latin typeface="Times New Roman" panose="02020603050405020304" pitchFamily="18" charset="0"/>
              </a:rPr>
              <a:t>Layered architecture used: Controller → Service → Repository → MySQL Database</a:t>
            </a:r>
            <a:endParaRPr lang="en-US" sz="125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C39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Application Flow</a:t>
            </a:r>
            <a:endParaRPr 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05C"/>
                </a:solidFill>
                <a:latin typeface="Times New Roman" panose="02020603050405020304" pitchFamily="18" charset="0"/>
                <a:ea typeface="Aptos" pitchFamily="34" charset="-122"/>
                <a:cs typeface="Aptos" pitchFamily="34" charset="-120"/>
              </a:rPr>
              <a:t>How users move through the CareAssist system.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6464"/>
                </a:solidFill>
                <a:latin typeface="Times New Roman" panose="02020603050405020304" pitchFamily="18" charset="0"/>
              </a:rPr>
              <a:t>04</a:t>
            </a:r>
            <a:endParaRPr lang="en-US" sz="850" dirty="0">
              <a:latin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1874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07592" y="2148840"/>
            <a:ext cx="530352" cy="530352"/>
          </a:xfrm>
          <a:prstGeom prst="ellipse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7592" y="22585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1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4672" y="285292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93520"/>
                </a:solidFill>
                <a:latin typeface="Times New Roman" panose="02020603050405020304" pitchFamily="18" charset="0"/>
              </a:rPr>
              <a:t>Login / OAuth2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4672" y="3456432"/>
            <a:ext cx="15453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05C"/>
                </a:solidFill>
                <a:latin typeface="Times New Roman" panose="02020603050405020304" pitchFamily="18" charset="0"/>
              </a:rPr>
              <a:t>User signs in and receives role-based access.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32888" y="2807208"/>
            <a:ext cx="320040" cy="502920"/>
          </a:xfrm>
          <a:prstGeom prst="chevron">
            <a:avLst/>
          </a:prstGeom>
          <a:solidFill>
            <a:srgbClr val="FFD2D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07792" y="1920240"/>
            <a:ext cx="1874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75304" y="2148840"/>
            <a:ext cx="530352" cy="530352"/>
          </a:xfrm>
          <a:prstGeom prst="ellipse">
            <a:avLst/>
          </a:prstGeom>
          <a:solidFill>
            <a:srgbClr val="071C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75304" y="22585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2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72384" y="285292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71C39"/>
                </a:solidFill>
                <a:latin typeface="Times New Roman" panose="02020603050405020304" pitchFamily="18" charset="0"/>
              </a:rPr>
              <a:t>Role Dashboard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072384" y="3456432"/>
            <a:ext cx="15453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05C"/>
                </a:solidFill>
                <a:latin typeface="Times New Roman" panose="02020603050405020304" pitchFamily="18" charset="0"/>
              </a:rPr>
              <a:t>Patient, provider, insurance, and admin see separate modules.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00600" y="2807208"/>
            <a:ext cx="320040" cy="502920"/>
          </a:xfrm>
          <a:prstGeom prst="chevron">
            <a:avLst/>
          </a:prstGeom>
          <a:solidFill>
            <a:srgbClr val="FFD2D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75504" y="1920240"/>
            <a:ext cx="1874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43016" y="2148840"/>
            <a:ext cx="530352" cy="530352"/>
          </a:xfrm>
          <a:prstGeom prst="ellipse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43016" y="22585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3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40096" y="285292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93520"/>
                </a:solidFill>
                <a:latin typeface="Times New Roman" panose="02020603050405020304" pitchFamily="18" charset="0"/>
              </a:rPr>
              <a:t>Invoice &amp; Claim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340096" y="3456432"/>
            <a:ext cx="15453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05C"/>
                </a:solidFill>
                <a:latin typeface="Times New Roman" panose="02020603050405020304" pitchFamily="18" charset="0"/>
              </a:rPr>
              <a:t>Provider generates invoice; patient pays or submits claim.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068312" y="2807208"/>
            <a:ext cx="320040" cy="502920"/>
          </a:xfrm>
          <a:prstGeom prst="chevron">
            <a:avLst/>
          </a:prstGeom>
          <a:solidFill>
            <a:srgbClr val="FFD2D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43216" y="1920240"/>
            <a:ext cx="1874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10728" y="2148840"/>
            <a:ext cx="530352" cy="530352"/>
          </a:xfrm>
          <a:prstGeom prst="ellipse">
            <a:avLst/>
          </a:prstGeom>
          <a:solidFill>
            <a:srgbClr val="071C3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0728" y="22585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4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607808" y="285292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71C39"/>
                </a:solidFill>
                <a:latin typeface="Times New Roman" panose="02020603050405020304" pitchFamily="18" charset="0"/>
              </a:rPr>
              <a:t>Approval &amp; Payment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607808" y="3456432"/>
            <a:ext cx="15453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05C"/>
                </a:solidFill>
                <a:latin typeface="Times New Roman" panose="02020603050405020304" pitchFamily="18" charset="0"/>
              </a:rPr>
              <a:t>Insurance/admin track claim and payment status.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336024" y="2807208"/>
            <a:ext cx="320040" cy="502920"/>
          </a:xfrm>
          <a:prstGeom prst="chevron">
            <a:avLst/>
          </a:prstGeom>
          <a:solidFill>
            <a:srgbClr val="FFD2D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10928" y="1920240"/>
            <a:ext cx="18745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9D9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378440" y="2148840"/>
            <a:ext cx="530352" cy="530352"/>
          </a:xfrm>
          <a:prstGeom prst="ellipse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78440" y="22585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5</a:t>
            </a:r>
            <a:endParaRPr 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875520" y="2852928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93520"/>
                </a:solidFill>
                <a:latin typeface="Times New Roman" panose="02020603050405020304" pitchFamily="18" charset="0"/>
              </a:rPr>
              <a:t>PDF + Email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875520" y="3456432"/>
            <a:ext cx="15453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4505C"/>
                </a:solidFill>
                <a:latin typeface="Times New Roman" panose="02020603050405020304" pitchFamily="18" charset="0"/>
              </a:rPr>
              <a:t>Invoice PDF can be downloaded and notification can be sent.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325880" y="507492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C39"/>
                </a:solidFill>
                <a:latin typeface="Times New Roman" panose="02020603050405020304" pitchFamily="18" charset="0"/>
              </a:rPr>
              <a:t>Security control: JWT tokens and role authorization protect each dashboard and API route.</a:t>
            </a:r>
            <a:endParaRPr lang="en-US" sz="15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C39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Output Images: Login and Dashboards</a:t>
            </a:r>
            <a:endParaRPr 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05C"/>
                </a:solidFill>
                <a:latin typeface="Times New Roman" panose="02020603050405020304" pitchFamily="18" charset="0"/>
                <a:ea typeface="Aptos" pitchFamily="34" charset="-122"/>
                <a:cs typeface="Aptos" pitchFamily="34" charset="-120"/>
              </a:rPr>
              <a:t>Screens captured from the CareAssist frontend.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6464"/>
                </a:solidFill>
                <a:latin typeface="Times New Roman" panose="02020603050405020304" pitchFamily="18" charset="0"/>
              </a:rPr>
              <a:t>05</a:t>
            </a:r>
            <a:endParaRPr lang="en-US" sz="850" dirty="0">
              <a:latin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1325880"/>
            <a:ext cx="3429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" y="155448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C39"/>
                </a:solidFill>
                <a:latin typeface="Times New Roman" panose="02020603050405020304" pitchFamily="18" charset="0"/>
              </a:rPr>
              <a:t>Login page with GitHub OAuth option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pic>
        <p:nvPicPr>
          <p:cNvPr id="11" name="Image 0" descr="/mnt/data/Screenshot 2026-07-09 2310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152996"/>
            <a:ext cx="2895906" cy="252706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160520" y="1325880"/>
            <a:ext cx="3657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325112" y="1463040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C39"/>
                </a:solidFill>
                <a:latin typeface="Times New Roman" panose="02020603050405020304" pitchFamily="18" charset="0"/>
              </a:rPr>
              <a:t>Admin dashboard: overview metrics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pic>
        <p:nvPicPr>
          <p:cNvPr id="14" name="Image 1" descr="/mnt/data/Screenshot 2026-07-09 2318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4767" y="1783080"/>
            <a:ext cx="2989107" cy="14356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160520" y="3749040"/>
            <a:ext cx="3657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325112" y="3886200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C39"/>
                </a:solidFill>
                <a:latin typeface="Times New Roman" panose="02020603050405020304" pitchFamily="18" charset="0"/>
              </a:rPr>
              <a:t>Patient dashboard: invoices and claims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pic>
        <p:nvPicPr>
          <p:cNvPr id="17" name="Image 2" descr="/mnt/data/Screenshot 2026-07-09 2310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4248242"/>
            <a:ext cx="3328416" cy="135160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138160" y="1325880"/>
            <a:ext cx="32918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394192" y="15544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93520"/>
                </a:solidFill>
                <a:latin typeface="Times New Roman" panose="02020603050405020304" pitchFamily="18" charset="0"/>
              </a:rPr>
              <a:t>Role-based UI</a:t>
            </a:r>
            <a:endParaRPr lang="en-US" sz="1700" dirty="0">
              <a:latin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394192" y="1984248"/>
            <a:ext cx="2852928" cy="3639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71C39"/>
                </a:solidFill>
                <a:latin typeface="Times New Roman" panose="02020603050405020304" pitchFamily="18" charset="0"/>
              </a:rPr>
              <a:t>Each login role opens different navigation and features. The admin panel focuses on operations, while patient pages focus on invoices, payments, plans, and claims.</a:t>
            </a:r>
            <a:endParaRPr lang="en-US" sz="124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C39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Output Images: Provider Features</a:t>
            </a:r>
            <a:endParaRPr 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05C"/>
                </a:solidFill>
                <a:latin typeface="Times New Roman" panose="02020603050405020304" pitchFamily="18" charset="0"/>
                <a:ea typeface="Aptos" pitchFamily="34" charset="-122"/>
                <a:cs typeface="Aptos" pitchFamily="34" charset="-120"/>
              </a:rPr>
              <a:t>Provider side account update and patient notification screens.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6464"/>
                </a:solidFill>
                <a:latin typeface="Times New Roman" panose="02020603050405020304" pitchFamily="18" charset="0"/>
              </a:rPr>
              <a:t>06</a:t>
            </a:r>
            <a:endParaRPr lang="en-US" sz="850" dirty="0">
              <a:latin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13258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" y="1739440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C39"/>
                </a:solidFill>
                <a:latin typeface="Times New Roman" panose="02020603050405020304" pitchFamily="18" charset="0"/>
              </a:rPr>
              <a:t>Account settings and profile picture management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pic>
        <p:nvPicPr>
          <p:cNvPr id="11" name="Image 0" descr="/mnt/data/Screenshot 2026-07-09 2319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514186"/>
            <a:ext cx="4974336" cy="239655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63640" y="132588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55664" y="1706296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C39"/>
                </a:solidFill>
                <a:latin typeface="Times New Roman" panose="02020603050405020304" pitchFamily="18" charset="0"/>
              </a:rPr>
              <a:t>Notify patient after invoice creation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pic>
        <p:nvPicPr>
          <p:cNvPr id="14" name="Image 1" descr="/mnt/data/Screenshot 2026-07-09 2322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706010"/>
            <a:ext cx="4974336" cy="20129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C39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Output Images: Invoice PDF and User Management</a:t>
            </a:r>
            <a:endParaRPr 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1208" y="9418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05C"/>
                </a:solidFill>
                <a:latin typeface="Times New Roman" panose="02020603050405020304" pitchFamily="18" charset="0"/>
                <a:ea typeface="Aptos" pitchFamily="34" charset="-122"/>
                <a:cs typeface="Aptos" pitchFamily="34" charset="-120"/>
              </a:rPr>
              <a:t>Generated invoice document and admin user management view.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6464"/>
                </a:solidFill>
                <a:latin typeface="Times New Roman" panose="02020603050405020304" pitchFamily="18" charset="0"/>
              </a:rPr>
              <a:t>07</a:t>
            </a:r>
            <a:endParaRPr lang="en-US" sz="850" dirty="0">
              <a:latin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2926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1728" y="1481570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C39"/>
                </a:solidFill>
                <a:latin typeface="Times New Roman" panose="02020603050405020304" pitchFamily="18" charset="0"/>
              </a:rPr>
              <a:t>Generated PDF invoice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pic>
        <p:nvPicPr>
          <p:cNvPr id="11" name="Image 0" descr="/mnt/data/Screenshot 2026-07-09 2321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57299"/>
            <a:ext cx="2596896" cy="369321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886200" y="1234440"/>
            <a:ext cx="4754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215384" y="1659636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71C39"/>
                </a:solidFill>
                <a:latin typeface="Times New Roman" panose="02020603050405020304" pitchFamily="18" charset="0"/>
              </a:rPr>
              <a:t>Admin manages users and active status</a:t>
            </a:r>
            <a:endParaRPr lang="en-US" sz="1200" dirty="0">
              <a:latin typeface="Times New Roman" panose="02020603050405020304" pitchFamily="18" charset="0"/>
            </a:endParaRPr>
          </a:p>
        </p:txBody>
      </p:sp>
      <p:pic>
        <p:nvPicPr>
          <p:cNvPr id="14" name="Image 1" descr="/mnt/data/Screenshot 2026-07-09 2324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792" y="2895944"/>
            <a:ext cx="4425696" cy="1815919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961120" y="1234440"/>
            <a:ext cx="25603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2E2">
                <a:alpha val="90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9217152" y="14630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4C4C"/>
                </a:solidFill>
                <a:latin typeface="Times New Roman" panose="02020603050405020304" pitchFamily="18" charset="0"/>
              </a:rPr>
              <a:t>Verified outputs</a:t>
            </a:r>
            <a:endParaRPr lang="en-US" sz="1700" dirty="0">
              <a:latin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9217152" y="1892808"/>
            <a:ext cx="2121408" cy="4005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071C39"/>
                </a:solidFill>
                <a:latin typeface="Times New Roman" panose="02020603050405020304" pitchFamily="18" charset="0"/>
              </a:rPr>
              <a:t>The PDF includes invoice number, patient details, provider details, charges, tax, insurance paid amount, patient paid amount, and remaining balance.</a:t>
            </a:r>
            <a:endParaRPr lang="en-US" sz="124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C39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ER Diagram</a:t>
            </a:r>
            <a:endParaRPr 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05C"/>
                </a:solidFill>
                <a:latin typeface="Times New Roman" panose="02020603050405020304" pitchFamily="18" charset="0"/>
                <a:ea typeface="Aptos" pitchFamily="34" charset="-122"/>
                <a:cs typeface="Aptos" pitchFamily="34" charset="-120"/>
              </a:rPr>
              <a:t>Core tables and relationships for the CareAssist MySQL database.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6464"/>
                </a:solidFill>
                <a:latin typeface="Times New Roman" panose="02020603050405020304" pitchFamily="18" charset="0"/>
              </a:rPr>
              <a:t>08</a:t>
            </a:r>
            <a:endParaRPr lang="en-US" sz="850" dirty="0">
              <a:latin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1234440"/>
            <a:ext cx="111099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AD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4D87CBD-EC77-D5F3-7D10-40B65A4F1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931" y="1709928"/>
            <a:ext cx="8434873" cy="41513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C39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UML Diagram: Entity Classes</a:t>
            </a:r>
            <a:endParaRPr 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05C"/>
                </a:solidFill>
                <a:latin typeface="Times New Roman" panose="02020603050405020304" pitchFamily="18" charset="0"/>
                <a:ea typeface="Aptos" pitchFamily="34" charset="-122"/>
                <a:cs typeface="Aptos" pitchFamily="34" charset="-120"/>
              </a:rPr>
              <a:t>Entity-level class relationships used by the backend domain model.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6464"/>
                </a:solidFill>
                <a:latin typeface="Times New Roman" panose="02020603050405020304" pitchFamily="18" charset="0"/>
              </a:rPr>
              <a:t>09</a:t>
            </a:r>
            <a:endParaRPr lang="en-US" sz="850" dirty="0">
              <a:latin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1234440"/>
            <a:ext cx="111099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AD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10" name="Image 0" descr="/mnt/data/careassist_uml/careassist-entity-um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296" y="1371600"/>
            <a:ext cx="830320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C39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UML Diagram: Service Layer</a:t>
            </a:r>
            <a:endParaRPr 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05C"/>
                </a:solidFill>
                <a:latin typeface="Times New Roman" panose="02020603050405020304" pitchFamily="18" charset="0"/>
                <a:ea typeface="Aptos" pitchFamily="34" charset="-122"/>
                <a:cs typeface="Aptos" pitchFamily="34" charset="-120"/>
              </a:rPr>
              <a:t>Service classes connect API controllers, security, repositories, and business operations.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6464"/>
                </a:solidFill>
                <a:latin typeface="Times New Roman" panose="02020603050405020304" pitchFamily="18" charset="0"/>
              </a:rPr>
              <a:t>10</a:t>
            </a:r>
            <a:endParaRPr lang="en-US" sz="850" dirty="0">
              <a:latin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1234440"/>
            <a:ext cx="111099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DAD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10" name="Image 0" descr="/mnt/data/careassist_service_uml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925" y="1417320"/>
            <a:ext cx="681395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C39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Conclusion</a:t>
            </a:r>
            <a:endParaRPr 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1208" y="82296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4505C"/>
                </a:solidFill>
                <a:latin typeface="Times New Roman" panose="02020603050405020304" pitchFamily="18" charset="0"/>
                <a:ea typeface="Aptos" pitchFamily="34" charset="-122"/>
                <a:cs typeface="Aptos" pitchFamily="34" charset="-120"/>
              </a:rPr>
              <a:t>CareAssist completed a full-stack workflow from login to invoice, payment, claim, PDF, and notification.</a:t>
            </a:r>
            <a:endParaRPr lang="en-US" sz="1350" dirty="0">
              <a:latin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2124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>
              <a:latin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6492240"/>
            <a:ext cx="11109960" cy="0"/>
          </a:xfrm>
          <a:prstGeom prst="line">
            <a:avLst/>
          </a:prstGeom>
          <a:noFill/>
          <a:ln w="12700">
            <a:solidFill>
              <a:srgbClr val="F2D8D5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65408" y="65471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6464"/>
                </a:solidFill>
                <a:latin typeface="Times New Roman" panose="02020603050405020304" pitchFamily="18" charset="0"/>
              </a:rPr>
              <a:t>11</a:t>
            </a:r>
            <a:endParaRPr lang="en-US" sz="850" dirty="0">
              <a:latin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107899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0E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178308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B93520"/>
                </a:solidFill>
                <a:latin typeface="Times New Roman" panose="02020603050405020304" pitchFamily="18" charset="0"/>
              </a:rPr>
              <a:t>Final Outcome</a:t>
            </a:r>
            <a:endParaRPr lang="en-US" sz="2500" dirty="0">
              <a:latin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17320" y="2514600"/>
            <a:ext cx="9784080" cy="2057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071C39"/>
                </a:solidFill>
                <a:latin typeface="Times New Roman" panose="02020603050405020304" pitchFamily="18" charset="0"/>
              </a:rPr>
              <a:t>Implemented separate dashboards for Admin, Patient, Provider, and Insurance roles.</a:t>
            </a:r>
            <a:endParaRPr lang="en-US" sz="1500" dirty="0">
              <a:latin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71C39"/>
                </a:solidFill>
                <a:latin typeface="Times New Roman" panose="02020603050405020304" pitchFamily="18" charset="0"/>
              </a:rPr>
              <a:t>Integrated Spring Boot APIs with the React frontend using secure role-based access.</a:t>
            </a:r>
            <a:endParaRPr lang="en-US" sz="1500" dirty="0">
              <a:latin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71C39"/>
                </a:solidFill>
                <a:latin typeface="Times New Roman" panose="02020603050405020304" pitchFamily="18" charset="0"/>
              </a:rPr>
              <a:t>Generated invoices, handled payments, submitted claims, and created PDF invoice output.</a:t>
            </a:r>
            <a:endParaRPr lang="en-US" sz="1500" dirty="0">
              <a:latin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71C39"/>
                </a:solidFill>
                <a:latin typeface="Times New Roman" panose="02020603050405020304" pitchFamily="18" charset="0"/>
              </a:rPr>
              <a:t>Added email notification and profile picture/account management features.</a:t>
            </a:r>
            <a:endParaRPr lang="en-US" sz="1500" dirty="0">
              <a:latin typeface="Times New Roman" panose="02020603050405020304" pitchFamily="18" charset="0"/>
            </a:endParaRPr>
          </a:p>
          <a:p>
            <a:r>
              <a:rPr lang="en-US" sz="1500" dirty="0">
                <a:solidFill>
                  <a:srgbClr val="071C39"/>
                </a:solidFill>
                <a:latin typeface="Times New Roman" panose="02020603050405020304" pitchFamily="18" charset="0"/>
              </a:rPr>
              <a:t>Prepared database and UML diagrams to explain the backend structure clearly.</a:t>
            </a:r>
            <a:endParaRPr lang="en-US" sz="1500" dirty="0">
              <a:latin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520440" y="5074920"/>
            <a:ext cx="5120640" cy="475488"/>
          </a:xfrm>
          <a:prstGeom prst="roundRect">
            <a:avLst/>
          </a:prstGeom>
          <a:solidFill>
            <a:srgbClr val="F24C4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521208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</a:rPr>
              <a:t>Thank You</a:t>
            </a:r>
            <a:endParaRPr lang="en-US" sz="1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631</Words>
  <Application>Microsoft Office PowerPoint</Application>
  <PresentationFormat>Widescreen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Hexaware Training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CareAssist - Medical Billing and Claims Management System</dc:title>
  <dc:subject>CareAssist Project Presentation</dc:subject>
  <dc:creator>MANOJKANNA S</dc:creator>
  <cp:lastModifiedBy>manoj kanna s</cp:lastModifiedBy>
  <cp:revision>3</cp:revision>
  <dcterms:created xsi:type="dcterms:W3CDTF">2026-07-09T18:03:25Z</dcterms:created>
  <dcterms:modified xsi:type="dcterms:W3CDTF">2026-07-10T05:29:24Z</dcterms:modified>
</cp:coreProperties>
</file>